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13" autoAdjust="0"/>
    <p:restoredTop sz="94660"/>
  </p:normalViewPr>
  <p:slideViewPr>
    <p:cSldViewPr snapToGrid="0">
      <p:cViewPr>
        <p:scale>
          <a:sx n="75" d="100"/>
          <a:sy n="75" d="100"/>
        </p:scale>
        <p:origin x="907" y="-75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88"/>
    </p:cViewPr>
  </p:sorterViewPr>
  <p:notesViewPr>
    <p:cSldViewPr snapToGrid="0">
      <p:cViewPr>
        <p:scale>
          <a:sx n="33" d="100"/>
          <a:sy n="33" d="100"/>
        </p:scale>
        <p:origin x="3854" y="1056"/>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E3C30-8889-40AB-8AB1-7CA41161D6CD}" type="datetimeFigureOut">
              <a:rPr lang="en-US" smtClean="0"/>
              <a:t>3/25/2026</a:t>
            </a:fld>
            <a:endParaRPr lang="en-US"/>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95FAF-E92B-4216-8E24-189FF522B572}" type="slidenum">
              <a:rPr lang="en-US" smtClean="0"/>
              <a:t>‹#›</a:t>
            </a:fld>
            <a:endParaRPr lang="en-US"/>
          </a:p>
        </p:txBody>
      </p:sp>
    </p:spTree>
    <p:extLst>
      <p:ext uri="{BB962C8B-B14F-4D97-AF65-F5344CB8AC3E}">
        <p14:creationId xmlns:p14="http://schemas.microsoft.com/office/powerpoint/2010/main" val="2944400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1473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C40526-5C38-4957-9A56-64A83E618FC5}"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1688972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40526-5C38-4957-9A56-64A83E618FC5}"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2580176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C40526-5C38-4957-9A56-64A83E618FC5}"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2023730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C40526-5C38-4957-9A56-64A83E618FC5}"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4196088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C40526-5C38-4957-9A56-64A83E618FC5}"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355928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C40526-5C38-4957-9A56-64A83E618FC5}"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3633655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C40526-5C38-4957-9A56-64A83E618FC5}"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2543982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C40526-5C38-4957-9A56-64A83E618FC5}"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994644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C40526-5C38-4957-9A56-64A83E618FC5}"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3801602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40526-5C38-4957-9A56-64A83E618FC5}"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1673212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40526-5C38-4957-9A56-64A83E618FC5}"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19B1C3-06DA-4A24-A7AC-C79187E1C82A}" type="slidenum">
              <a:rPr lang="en-US" smtClean="0"/>
              <a:t>‹#›</a:t>
            </a:fld>
            <a:endParaRPr lang="en-US"/>
          </a:p>
        </p:txBody>
      </p:sp>
    </p:spTree>
    <p:extLst>
      <p:ext uri="{BB962C8B-B14F-4D97-AF65-F5344CB8AC3E}">
        <p14:creationId xmlns:p14="http://schemas.microsoft.com/office/powerpoint/2010/main" val="2163090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C3C40526-5C38-4957-9A56-64A83E618FC5}" type="datetimeFigureOut">
              <a:rPr lang="en-US" smtClean="0"/>
              <a:t>3/25/2026</a:t>
            </a:fld>
            <a:endParaRPr 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9F19B1C3-06DA-4A24-A7AC-C79187E1C82A}" type="slidenum">
              <a:rPr lang="en-US" smtClean="0"/>
              <a:t>‹#›</a:t>
            </a:fld>
            <a:endParaRPr lang="en-US"/>
          </a:p>
        </p:txBody>
      </p:sp>
    </p:spTree>
    <p:extLst>
      <p:ext uri="{BB962C8B-B14F-4D97-AF65-F5344CB8AC3E}">
        <p14:creationId xmlns:p14="http://schemas.microsoft.com/office/powerpoint/2010/main" val="1139739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62686C-E2ED-9F21-4B83-6AEA320E96EA}"/>
              </a:ext>
            </a:extLst>
          </p:cNvPr>
          <p:cNvSpPr/>
          <p:nvPr/>
        </p:nvSpPr>
        <p:spPr>
          <a:xfrm>
            <a:off x="0" y="0"/>
            <a:ext cx="6856413" cy="51816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3EE6BA2-3A05-ABF6-7850-B5A66CC6ED53}"/>
              </a:ext>
            </a:extLst>
          </p:cNvPr>
          <p:cNvSpPr txBox="1"/>
          <p:nvPr/>
        </p:nvSpPr>
        <p:spPr>
          <a:xfrm>
            <a:off x="-1587" y="0"/>
            <a:ext cx="5135880" cy="492443"/>
          </a:xfrm>
          <a:prstGeom prst="rect">
            <a:avLst/>
          </a:prstGeom>
          <a:noFill/>
        </p:spPr>
        <p:txBody>
          <a:bodyPr wrap="square" rtlCol="0">
            <a:spAutoFit/>
          </a:bodyPr>
          <a:lstStyle/>
          <a:p>
            <a:r>
              <a:rPr lang="pt-BR" sz="1600" b="1" dirty="0">
                <a:solidFill>
                  <a:schemeClr val="tx2">
                    <a:lumMod val="75000"/>
                  </a:schemeClr>
                </a:solidFill>
                <a:latin typeface="Segoe UI" panose="020B0502040204020203" pitchFamily="34" charset="0"/>
                <a:cs typeface="Segoe UI" panose="020B0502040204020203" pitchFamily="34" charset="0"/>
              </a:rPr>
              <a:t>Controle de Sistemas – Resumo Capítulo 01 e 02</a:t>
            </a:r>
          </a:p>
          <a:p>
            <a:r>
              <a:rPr lang="pt-BR" sz="1000" b="1" dirty="0">
                <a:solidFill>
                  <a:schemeClr val="tx2">
                    <a:lumMod val="75000"/>
                  </a:schemeClr>
                </a:solidFill>
                <a:latin typeface="Segoe UI" panose="020B0502040204020203" pitchFamily="34" charset="0"/>
                <a:cs typeface="Segoe UI" panose="020B0502040204020203" pitchFamily="34" charset="0"/>
              </a:rPr>
              <a:t>Enzo Corradini – RA: 822915</a:t>
            </a:r>
            <a:endParaRPr lang="en-US" sz="1000" b="1" dirty="0">
              <a:solidFill>
                <a:schemeClr val="tx2">
                  <a:lumMod val="75000"/>
                </a:schemeClr>
              </a:solidFill>
              <a:latin typeface="Segoe UI" panose="020B0502040204020203" pitchFamily="34" charset="0"/>
              <a:cs typeface="Segoe UI" panose="020B0502040204020203" pitchFamily="34" charset="0"/>
            </a:endParaRPr>
          </a:p>
        </p:txBody>
      </p:sp>
      <p:pic>
        <p:nvPicPr>
          <p:cNvPr id="9" name="Picture 8">
            <a:extLst>
              <a:ext uri="{FF2B5EF4-FFF2-40B4-BE49-F238E27FC236}">
                <a16:creationId xmlns:a16="http://schemas.microsoft.com/office/drawing/2014/main" id="{0B4501CB-B41F-AC58-2233-ED66E5FDB21A}"/>
              </a:ext>
            </a:extLst>
          </p:cNvPr>
          <p:cNvPicPr>
            <a:picLocks noChangeAspect="1"/>
          </p:cNvPicPr>
          <p:nvPr/>
        </p:nvPicPr>
        <p:blipFill>
          <a:blip r:embed="rId3"/>
          <a:stretch>
            <a:fillRect/>
          </a:stretch>
        </p:blipFill>
        <p:spPr>
          <a:xfrm>
            <a:off x="7208421" y="778052"/>
            <a:ext cx="993306" cy="1440000"/>
          </a:xfrm>
          <a:prstGeom prst="rect">
            <a:avLst/>
          </a:prstGeom>
        </p:spPr>
      </p:pic>
      <p:pic>
        <p:nvPicPr>
          <p:cNvPr id="11" name="Picture 10">
            <a:extLst>
              <a:ext uri="{FF2B5EF4-FFF2-40B4-BE49-F238E27FC236}">
                <a16:creationId xmlns:a16="http://schemas.microsoft.com/office/drawing/2014/main" id="{3D96A0BA-14BC-E638-7A85-181CCC558B4C}"/>
              </a:ext>
            </a:extLst>
          </p:cNvPr>
          <p:cNvPicPr>
            <a:picLocks noChangeAspect="1"/>
          </p:cNvPicPr>
          <p:nvPr/>
        </p:nvPicPr>
        <p:blipFill>
          <a:blip r:embed="rId4"/>
          <a:stretch>
            <a:fillRect/>
          </a:stretch>
        </p:blipFill>
        <p:spPr>
          <a:xfrm>
            <a:off x="7208420" y="-449023"/>
            <a:ext cx="993305" cy="1179549"/>
          </a:xfrm>
          <a:prstGeom prst="rect">
            <a:avLst/>
          </a:prstGeom>
        </p:spPr>
      </p:pic>
      <p:sp>
        <p:nvSpPr>
          <p:cNvPr id="8" name="TextBox 7">
            <a:extLst>
              <a:ext uri="{FF2B5EF4-FFF2-40B4-BE49-F238E27FC236}">
                <a16:creationId xmlns:a16="http://schemas.microsoft.com/office/drawing/2014/main" id="{3150B949-FE5F-B013-D2D4-F601A89E88EC}"/>
              </a:ext>
            </a:extLst>
          </p:cNvPr>
          <p:cNvSpPr txBox="1"/>
          <p:nvPr/>
        </p:nvSpPr>
        <p:spPr>
          <a:xfrm>
            <a:off x="19735801" y="259080"/>
            <a:ext cx="2534920" cy="10756791"/>
          </a:xfrm>
          <a:prstGeom prst="rect">
            <a:avLst/>
          </a:prstGeom>
          <a:noFill/>
        </p:spPr>
        <p:txBody>
          <a:bodyPr wrap="square" rtlCol="0">
            <a:spAutoFit/>
          </a:bodyPr>
          <a:lstStyle/>
          <a:p>
            <a:pPr algn="just"/>
            <a:r>
              <a:rPr lang="en-US" sz="900" b="0" i="0" u="none" strike="noStrike" baseline="0" dirty="0">
                <a:latin typeface="Segoe UI" panose="020B0502040204020203" pitchFamily="34" charset="0"/>
                <a:cs typeface="Segoe UI" panose="020B0502040204020203" pitchFamily="34" charset="0"/>
              </a:rPr>
              <a:t>A useful way of representing a system is as a </a:t>
            </a:r>
            <a:r>
              <a:rPr lang="en-US" sz="900" b="0" i="1" u="none" strike="noStrike" baseline="0" dirty="0">
                <a:latin typeface="Segoe UI" panose="020B0502040204020203" pitchFamily="34" charset="0"/>
                <a:cs typeface="Segoe UI" panose="020B0502040204020203" pitchFamily="34" charset="0"/>
              </a:rPr>
              <a:t>block diagram: within the boundary described by the box outline is the system and inputs to the system are shown by arrows entering the box and outputs by arrows leaving the box. </a:t>
            </a:r>
            <a:r>
              <a:rPr lang="en-US" sz="900" b="0" i="0" u="none" strike="noStrike" baseline="0" dirty="0">
                <a:latin typeface="Segoe UI" panose="020B0502040204020203" pitchFamily="34" charset="0"/>
                <a:cs typeface="Segoe UI" panose="020B0502040204020203" pitchFamily="34" charset="0"/>
              </a:rPr>
              <a:t>Figure 1.3(a) illustrates this for an electric motor system; there is an input of electrical energy and an output of mechanical energy in the form of the rotation of the motor shaft. We can think of the system in the box operating on the input to produce the output.</a:t>
            </a:r>
          </a:p>
          <a:p>
            <a:pPr algn="just"/>
            <a:r>
              <a:rPr lang="en-US" sz="900" b="0" i="0" u="none" strike="noStrike" baseline="0" dirty="0">
                <a:latin typeface="Segoe UI" panose="020B0502040204020203" pitchFamily="34" charset="0"/>
                <a:cs typeface="Segoe UI" panose="020B0502040204020203" pitchFamily="34" charset="0"/>
              </a:rPr>
              <a:t>While we can represent a control system as a single block with an input and an output, it is generally more useful to consider the system as a series of interconnected system elements with each system element being represented by a block having a particular function. Thus, in the case of the driver of a car steering the car along a road we can consider the overall control system to have the elements of:- the driver with an input of the actual position he/she sees of the car on the road and also his/her thoughts on where the car should be in relation to the road giving an output of the hands turning the steering wheel; the car steering unit with the input of the steering wheel position and the output of the front wheel positions and hence the positioning of the car on the road. Figure 1.3(b) shows how we might represent these elements. A useful way of representing a system is as a </a:t>
            </a:r>
            <a:r>
              <a:rPr lang="en-US" sz="900" b="0" i="1" u="none" strike="noStrike" baseline="0" dirty="0">
                <a:latin typeface="Segoe UI" panose="020B0502040204020203" pitchFamily="34" charset="0"/>
                <a:cs typeface="Segoe UI" panose="020B0502040204020203" pitchFamily="34" charset="0"/>
              </a:rPr>
              <a:t>block diagram: within the boundary described by the box outline is the system and inputs to the system are shown by arrows entering the box and outputs by arrows leaving the box. </a:t>
            </a:r>
            <a:r>
              <a:rPr lang="en-US" sz="900" b="0" i="0" u="none" strike="noStrike" baseline="0" dirty="0">
                <a:latin typeface="Segoe UI" panose="020B0502040204020203" pitchFamily="34" charset="0"/>
                <a:cs typeface="Segoe UI" panose="020B0502040204020203" pitchFamily="34" charset="0"/>
              </a:rPr>
              <a:t>Figure 1.3(a) illustrates this for an electric motor system; there is an input of electrical energy and an output of mechanical energy in the form of the rotation of the motor shaft. We can think of the system in the box operating on the input to produce the output.</a:t>
            </a:r>
          </a:p>
          <a:p>
            <a:pPr algn="just"/>
            <a:r>
              <a:rPr lang="en-US" sz="900" b="0" i="0" u="none" strike="noStrike" baseline="0" dirty="0">
                <a:latin typeface="Segoe UI" panose="020B0502040204020203" pitchFamily="34" charset="0"/>
                <a:cs typeface="Segoe UI" panose="020B0502040204020203" pitchFamily="34" charset="0"/>
              </a:rPr>
              <a:t>While we can represent a control system as a single block with an input and an output, it is generally more useful to consider the system as a series of interconnected system elements with each system element being represented by a block having a particular function. Thus, in the case of the driver of a car steering the car along a road we can consider the overall control system to have the elements of:- the driver with an input of the actual position he/she sees of the car on the road and also his/her thoughts on where the car should be in relation to the road giving an output of the hands turning the steering wheel; the car steering unit with the input of the steering wheel position and the output of the front wheel positions and hence the positioning of the car on the road. Figure 1.3(b) shows how we might represent these elements.</a:t>
            </a:r>
            <a:endParaRPr lang="en-US" sz="900" dirty="0">
              <a:latin typeface="Segoe UI" panose="020B0502040204020203" pitchFamily="34" charset="0"/>
              <a:cs typeface="Segoe UI" panose="020B0502040204020203" pitchFamily="34" charset="0"/>
            </a:endParaRPr>
          </a:p>
          <a:p>
            <a:pPr algn="just"/>
            <a:r>
              <a:rPr lang="en-US" sz="900" b="0" i="0" u="none" strike="noStrike" baseline="0" dirty="0">
                <a:latin typeface="Segoe UI" panose="020B0502040204020203" pitchFamily="34" charset="0"/>
                <a:cs typeface="Segoe UI" panose="020B0502040204020203" pitchFamily="34" charset="0"/>
              </a:rPr>
              <a:t>A useful way of representing a system is as a </a:t>
            </a:r>
            <a:r>
              <a:rPr lang="en-US" sz="900" b="0" i="1" u="none" strike="noStrike" baseline="0" dirty="0">
                <a:latin typeface="Segoe UI" panose="020B0502040204020203" pitchFamily="34" charset="0"/>
                <a:cs typeface="Segoe UI" panose="020B0502040204020203" pitchFamily="34" charset="0"/>
              </a:rPr>
              <a:t>block diagram: within the boundary described by the box outline is the system and inputs to the system are shown by arrows entering the box and outputs by arrows leaving the box. </a:t>
            </a:r>
            <a:r>
              <a:rPr lang="en-US" sz="900" b="0" i="0" u="none" strike="noStrike" baseline="0" dirty="0">
                <a:latin typeface="Segoe UI" panose="020B0502040204020203" pitchFamily="34" charset="0"/>
                <a:cs typeface="Segoe UI" panose="020B0502040204020203" pitchFamily="34" charset="0"/>
              </a:rPr>
              <a:t>Figure 1.3(a) illustrates this for an electric motor system; there is an input of electrical energy and an output of mechanical energy in the form of the rotation of the motor shaft. We can think of the system in the box operating on the input to produce the output.</a:t>
            </a:r>
          </a:p>
          <a:p>
            <a:pPr algn="just"/>
            <a:r>
              <a:rPr lang="en-US" sz="900" b="0" i="0" u="none" strike="noStrike" baseline="0" dirty="0">
                <a:latin typeface="Segoe UI" panose="020B0502040204020203" pitchFamily="34" charset="0"/>
                <a:cs typeface="Segoe UI" panose="020B0502040204020203" pitchFamily="34" charset="0"/>
              </a:rPr>
              <a:t>While we can represent a control system as a single block with an input and an output, it is generally more useful to consider the system as a series of interconnected system elements with each system element being represented by a block having a particular function</a:t>
            </a:r>
            <a:endParaRPr lang="en-US" sz="900" dirty="0">
              <a:latin typeface="Segoe UI" panose="020B0502040204020203" pitchFamily="34" charset="0"/>
              <a:cs typeface="Segoe UI" panose="020B0502040204020203" pitchFamily="34" charset="0"/>
            </a:endParaRPr>
          </a:p>
        </p:txBody>
      </p:sp>
      <p:sp>
        <p:nvSpPr>
          <p:cNvPr id="101" name="TextBox 100">
            <a:extLst>
              <a:ext uri="{FF2B5EF4-FFF2-40B4-BE49-F238E27FC236}">
                <a16:creationId xmlns:a16="http://schemas.microsoft.com/office/drawing/2014/main" id="{F5EA6799-F233-CD28-5F35-71C6358D784E}"/>
              </a:ext>
            </a:extLst>
          </p:cNvPr>
          <p:cNvSpPr txBox="1"/>
          <p:nvPr/>
        </p:nvSpPr>
        <p:spPr>
          <a:xfrm>
            <a:off x="-10503877" y="778052"/>
            <a:ext cx="2956560" cy="15788938"/>
          </a:xfrm>
          <a:prstGeom prst="rect">
            <a:avLst/>
          </a:prstGeom>
          <a:noFill/>
        </p:spPr>
        <p:txBody>
          <a:bodyPr wrap="square" rtlCol="0">
            <a:spAutoFit/>
          </a:bodyPr>
          <a:lstStyle/>
          <a:p>
            <a:r>
              <a:rPr lang="pt-BR" sz="1200" b="1" dirty="0">
                <a:latin typeface="Times New Roman" panose="02020603050405020304" pitchFamily="18" charset="0"/>
                <a:cs typeface="Times New Roman" panose="02020603050405020304" pitchFamily="18" charset="0"/>
              </a:rPr>
              <a:t>Automação e sistemas de controle</a:t>
            </a:r>
            <a:r>
              <a:rPr lang="pt-BR" sz="1200" dirty="0">
                <a:latin typeface="Times New Roman" panose="02020603050405020304" pitchFamily="18" charset="0"/>
                <a:cs typeface="Times New Roman" panose="02020603050405020304" pitchFamily="18" charset="0"/>
              </a:rPr>
              <a:t> envolvem a operação automática de processos com mínima intervenção humana. Um sistema é qualquer arranjo que transforma entradas em saídas, representado por diagramas de blocos. Existem dois tipos fundamentais: o sistema de </a:t>
            </a:r>
            <a:r>
              <a:rPr lang="pt-BR" sz="1200" b="1" dirty="0">
                <a:latin typeface="Times New Roman" panose="02020603050405020304" pitchFamily="18" charset="0"/>
                <a:cs typeface="Times New Roman" panose="02020603050405020304" pitchFamily="18" charset="0"/>
              </a:rPr>
              <a:t>malha aberta</a:t>
            </a:r>
            <a:r>
              <a:rPr lang="pt-BR" sz="1200" dirty="0">
                <a:latin typeface="Times New Roman" panose="02020603050405020304" pitchFamily="18" charset="0"/>
                <a:cs typeface="Times New Roman" panose="02020603050405020304" pitchFamily="18" charset="0"/>
              </a:rPr>
              <a:t>, no qual a saída não influencia a entrada, sendo simples e barato porém suscetível a perturbações; e o sistema de </a:t>
            </a:r>
            <a:r>
              <a:rPr lang="pt-BR" sz="1200" b="1" dirty="0">
                <a:latin typeface="Times New Roman" panose="02020603050405020304" pitchFamily="18" charset="0"/>
                <a:cs typeface="Times New Roman" panose="02020603050405020304" pitchFamily="18" charset="0"/>
              </a:rPr>
              <a:t>malha fechada</a:t>
            </a:r>
            <a:r>
              <a:rPr lang="pt-BR" sz="1200" dirty="0">
                <a:latin typeface="Times New Roman" panose="02020603050405020304" pitchFamily="18" charset="0"/>
                <a:cs typeface="Times New Roman" panose="02020603050405020304" pitchFamily="18" charset="0"/>
              </a:rPr>
              <a:t>, no qual a saída é continuamente medida e comparada ao valor desejado, gerando um sinal de erro que aciona uma correção. Este segundo tipo emprega </a:t>
            </a:r>
            <a:r>
              <a:rPr lang="pt-BR" sz="1200" b="1" dirty="0">
                <a:latin typeface="Times New Roman" panose="02020603050405020304" pitchFamily="18" charset="0"/>
                <a:cs typeface="Times New Roman" panose="02020603050405020304" pitchFamily="18" charset="0"/>
              </a:rPr>
              <a:t>realimentação negativa</a:t>
            </a:r>
            <a:r>
              <a:rPr lang="pt-BR" sz="1200" dirty="0">
                <a:latin typeface="Times New Roman" panose="02020603050405020304" pitchFamily="18" charset="0"/>
                <a:cs typeface="Times New Roman" panose="02020603050405020304" pitchFamily="18" charset="0"/>
              </a:rPr>
              <a:t> e é composto por cinco elementos básicos: comparador, elemento de lei de controle, atuador, processo e sensor de medição.</a:t>
            </a:r>
          </a:p>
          <a:p>
            <a:r>
              <a:rPr lang="pt-BR" sz="1200" dirty="0">
                <a:latin typeface="Times New Roman" panose="02020603050405020304" pitchFamily="18" charset="0"/>
                <a:cs typeface="Times New Roman" panose="02020603050405020304" pitchFamily="18" charset="0"/>
              </a:rPr>
              <a:t>Os </a:t>
            </a:r>
            <a:r>
              <a:rPr lang="pt-BR" sz="1200" b="1" dirty="0">
                <a:latin typeface="Times New Roman" panose="02020603050405020304" pitchFamily="18" charset="0"/>
                <a:cs typeface="Times New Roman" panose="02020603050405020304" pitchFamily="18" charset="0"/>
              </a:rPr>
              <a:t>sensores</a:t>
            </a:r>
            <a:r>
              <a:rPr lang="pt-BR" sz="1200" dirty="0">
                <a:latin typeface="Times New Roman" panose="02020603050405020304" pitchFamily="18" charset="0"/>
                <a:cs typeface="Times New Roman" panose="02020603050405020304" pitchFamily="18" charset="0"/>
              </a:rPr>
              <a:t> utilizados para medir as variáveis controladas incluem potenciômetros, extensômetros, </a:t>
            </a:r>
            <a:r>
              <a:rPr lang="pt-BR" sz="1200" dirty="0" err="1">
                <a:latin typeface="Times New Roman" panose="02020603050405020304" pitchFamily="18" charset="0"/>
                <a:cs typeface="Times New Roman" panose="02020603050405020304" pitchFamily="18" charset="0"/>
              </a:rPr>
              <a:t>LVDTs</a:t>
            </a:r>
            <a:r>
              <a:rPr lang="pt-BR" sz="1200" dirty="0">
                <a:latin typeface="Times New Roman" panose="02020603050405020304" pitchFamily="18" charset="0"/>
                <a:cs typeface="Times New Roman" panose="02020603050405020304" pitchFamily="18" charset="0"/>
              </a:rPr>
              <a:t> e </a:t>
            </a:r>
            <a:r>
              <a:rPr lang="pt-BR" sz="1200" dirty="0" err="1">
                <a:latin typeface="Times New Roman" panose="02020603050405020304" pitchFamily="18" charset="0"/>
                <a:cs typeface="Times New Roman" panose="02020603050405020304" pitchFamily="18" charset="0"/>
              </a:rPr>
              <a:t>encoders</a:t>
            </a:r>
            <a:r>
              <a:rPr lang="pt-BR" sz="1200" dirty="0">
                <a:latin typeface="Times New Roman" panose="02020603050405020304" pitchFamily="18" charset="0"/>
                <a:cs typeface="Times New Roman" panose="02020603050405020304" pitchFamily="18" charset="0"/>
              </a:rPr>
              <a:t> ópticos para posição e deslocamento; tacômetros para velocidade; diafragmas e sensores piezoelétricos para pressão; tubos Venturi e medidores de turbina para vazão; e </a:t>
            </a:r>
            <a:r>
              <a:rPr lang="pt-BR" sz="1200" dirty="0" err="1">
                <a:latin typeface="Times New Roman" panose="02020603050405020304" pitchFamily="18" charset="0"/>
                <a:cs typeface="Times New Roman" panose="02020603050405020304" pitchFamily="18" charset="0"/>
              </a:rPr>
              <a:t>termistores</a:t>
            </a:r>
            <a:r>
              <a:rPr lang="pt-BR" sz="1200" dirty="0">
                <a:latin typeface="Times New Roman" panose="02020603050405020304" pitchFamily="18" charset="0"/>
                <a:cs typeface="Times New Roman" panose="02020603050405020304" pitchFamily="18" charset="0"/>
              </a:rPr>
              <a:t>, </a:t>
            </a:r>
            <a:r>
              <a:rPr lang="pt-BR" sz="1200" dirty="0" err="1">
                <a:latin typeface="Times New Roman" panose="02020603050405020304" pitchFamily="18" charset="0"/>
                <a:cs typeface="Times New Roman" panose="02020603050405020304" pitchFamily="18" charset="0"/>
              </a:rPr>
              <a:t>RTDs</a:t>
            </a:r>
            <a:r>
              <a:rPr lang="pt-BR" sz="1200" dirty="0">
                <a:latin typeface="Times New Roman" panose="02020603050405020304" pitchFamily="18" charset="0"/>
                <a:cs typeface="Times New Roman" panose="02020603050405020304" pitchFamily="18" charset="0"/>
              </a:rPr>
              <a:t>, termopares e sensores integrados para temperatura. Os sinais desses sensores geralmente precisam de </a:t>
            </a:r>
            <a:r>
              <a:rPr lang="pt-BR" sz="1200" b="1" dirty="0">
                <a:latin typeface="Times New Roman" panose="02020603050405020304" pitchFamily="18" charset="0"/>
                <a:cs typeface="Times New Roman" panose="02020603050405020304" pitchFamily="18" charset="0"/>
              </a:rPr>
              <a:t>processamento</a:t>
            </a:r>
            <a:r>
              <a:rPr lang="pt-BR" sz="1200" dirty="0">
                <a:latin typeface="Times New Roman" panose="02020603050405020304" pitchFamily="18" charset="0"/>
                <a:cs typeface="Times New Roman" panose="02020603050405020304" pitchFamily="18" charset="0"/>
              </a:rPr>
              <a:t>, como amplificação, conversão resistência-tensão, proteção contra sobrecorrente e conversão analógico-digital (ADC) ou digital-analógico (DAC) para compatibilidade com microprocessadores. Os </a:t>
            </a:r>
            <a:r>
              <a:rPr lang="pt-BR" sz="1200" b="1" dirty="0">
                <a:latin typeface="Times New Roman" panose="02020603050405020304" pitchFamily="18" charset="0"/>
                <a:cs typeface="Times New Roman" panose="02020603050405020304" pitchFamily="18" charset="0"/>
              </a:rPr>
              <a:t>atuadores</a:t>
            </a:r>
            <a:r>
              <a:rPr lang="pt-BR" sz="1200" dirty="0">
                <a:latin typeface="Times New Roman" panose="02020603050405020304" pitchFamily="18" charset="0"/>
                <a:cs typeface="Times New Roman" panose="02020603050405020304" pitchFamily="18" charset="0"/>
              </a:rPr>
              <a:t> mais comuns são válvulas direcionais e de fluxo pneumáticas/hidráulicas, motores CC (série, shunt, composto ou excitação separada) e motores de passo para posicionamento preciso.</a:t>
            </a:r>
          </a:p>
          <a:p>
            <a:r>
              <a:rPr lang="pt-BR" sz="1200" dirty="0">
                <a:latin typeface="Times New Roman" panose="02020603050405020304" pitchFamily="18" charset="0"/>
                <a:cs typeface="Times New Roman" panose="02020603050405020304" pitchFamily="18" charset="0"/>
              </a:rPr>
              <a:t>No </a:t>
            </a:r>
            <a:r>
              <a:rPr lang="pt-BR" sz="1200" b="1" dirty="0">
                <a:latin typeface="Times New Roman" panose="02020603050405020304" pitchFamily="18" charset="0"/>
                <a:cs typeface="Times New Roman" panose="02020603050405020304" pitchFamily="18" charset="0"/>
              </a:rPr>
              <a:t>Capítulo 2</a:t>
            </a:r>
            <a:r>
              <a:rPr lang="pt-BR" sz="1200" dirty="0">
                <a:latin typeface="Times New Roman" panose="02020603050405020304" pitchFamily="18" charset="0"/>
                <a:cs typeface="Times New Roman" panose="02020603050405020304" pitchFamily="18" charset="0"/>
              </a:rPr>
              <a:t>, sistemas cuja saída é diretamente proporcional à entrada são descritos por um </a:t>
            </a:r>
            <a:r>
              <a:rPr lang="pt-BR" sz="1200" b="1" dirty="0">
                <a:latin typeface="Times New Roman" panose="02020603050405020304" pitchFamily="18" charset="0"/>
                <a:cs typeface="Times New Roman" panose="02020603050405020304" pitchFamily="18" charset="0"/>
              </a:rPr>
              <a:t>ganho G</a:t>
            </a:r>
            <a:r>
              <a:rPr lang="pt-BR" sz="1200" dirty="0">
                <a:latin typeface="Times New Roman" panose="02020603050405020304" pitchFamily="18" charset="0"/>
                <a:cs typeface="Times New Roman" panose="02020603050405020304" pitchFamily="18" charset="0"/>
              </a:rPr>
              <a:t>. Em sistemas em série, o ganho total é o produto dos ganhos individuais. Com realimentação negativa, o ganho total é G/(1+GH), e com realimentação positiva, G/(1−GH). Para sistemas dinâmicos, a relação entrada-saída é descrita por </a:t>
            </a:r>
            <a:r>
              <a:rPr lang="pt-BR" sz="1200" b="1" dirty="0">
                <a:latin typeface="Times New Roman" panose="02020603050405020304" pitchFamily="18" charset="0"/>
                <a:cs typeface="Times New Roman" panose="02020603050405020304" pitchFamily="18" charset="0"/>
              </a:rPr>
              <a:t>equações diferenciais</a:t>
            </a:r>
            <a:r>
              <a:rPr lang="pt-BR" sz="1200" dirty="0">
                <a:latin typeface="Times New Roman" panose="02020603050405020304" pitchFamily="18" charset="0"/>
                <a:cs typeface="Times New Roman" panose="02020603050405020304" pitchFamily="18" charset="0"/>
              </a:rPr>
              <a:t>, obtidas modelando os sistemas mecânicos (mola, amortecedor e massa), rotacionais, elétricos (resistor, indutor e capacitor, via leis de </a:t>
            </a:r>
            <a:r>
              <a:rPr lang="pt-BR" sz="1200" dirty="0" err="1">
                <a:latin typeface="Times New Roman" panose="02020603050405020304" pitchFamily="18" charset="0"/>
                <a:cs typeface="Times New Roman" panose="02020603050405020304" pitchFamily="18" charset="0"/>
              </a:rPr>
              <a:t>Kirchhoff</a:t>
            </a:r>
            <a:r>
              <a:rPr lang="pt-BR" sz="1200" dirty="0">
                <a:latin typeface="Times New Roman" panose="02020603050405020304" pitchFamily="18" charset="0"/>
                <a:cs typeface="Times New Roman" panose="02020603050405020304" pitchFamily="18" charset="0"/>
              </a:rPr>
              <a:t>), térmicos (resistência e capacitância térmicas) e hidráulicos (resistência, capacitância e </a:t>
            </a:r>
            <a:r>
              <a:rPr lang="pt-BR" sz="1200" dirty="0" err="1">
                <a:latin typeface="Times New Roman" panose="02020603050405020304" pitchFamily="18" charset="0"/>
                <a:cs typeface="Times New Roman" panose="02020603050405020304" pitchFamily="18" charset="0"/>
              </a:rPr>
              <a:t>inertância</a:t>
            </a:r>
            <a:r>
              <a:rPr lang="pt-BR" sz="1200" dirty="0">
                <a:latin typeface="Times New Roman" panose="02020603050405020304" pitchFamily="18" charset="0"/>
                <a:cs typeface="Times New Roman" panose="02020603050405020304" pitchFamily="18" charset="0"/>
              </a:rPr>
              <a:t>). Sistemas de </a:t>
            </a:r>
            <a:r>
              <a:rPr lang="pt-BR" sz="1200" b="1" dirty="0">
                <a:latin typeface="Times New Roman" panose="02020603050405020304" pitchFamily="18" charset="0"/>
                <a:cs typeface="Times New Roman" panose="02020603050405020304" pitchFamily="18" charset="0"/>
              </a:rPr>
              <a:t>primeira ordem</a:t>
            </a:r>
            <a:r>
              <a:rPr lang="pt-BR" sz="1200" dirty="0">
                <a:latin typeface="Times New Roman" panose="02020603050405020304" pitchFamily="18" charset="0"/>
                <a:cs typeface="Times New Roman" panose="02020603050405020304" pitchFamily="18" charset="0"/>
              </a:rPr>
              <a:t> respondem a entradas degrau de forma exponencial, caracterizados pela constante de tempo τ. Sistemas de </a:t>
            </a:r>
            <a:r>
              <a:rPr lang="pt-BR" sz="1200" b="1" dirty="0">
                <a:latin typeface="Times New Roman" panose="02020603050405020304" pitchFamily="18" charset="0"/>
                <a:cs typeface="Times New Roman" panose="02020603050405020304" pitchFamily="18" charset="0"/>
              </a:rPr>
              <a:t>segunda ordem</a:t>
            </a:r>
            <a:r>
              <a:rPr lang="pt-BR" sz="1200" dirty="0">
                <a:latin typeface="Times New Roman" panose="02020603050405020304" pitchFamily="18" charset="0"/>
                <a:cs typeface="Times New Roman" panose="02020603050405020304" pitchFamily="18" charset="0"/>
              </a:rPr>
              <a:t> apresentam comportamento que varia conforme o fator de amortecimento ζ: oscilatório e crescente para ζ = 0, oscilatório amortecido para ζ &lt; 1, resposta ótima sem oscilação para ζ = 1 e resposta lenta para ζ &gt; 1.</a:t>
            </a:r>
          </a:p>
          <a:p>
            <a:r>
              <a:rPr lang="pt-BR" sz="1200" dirty="0">
                <a:latin typeface="Times New Roman" panose="02020603050405020304" pitchFamily="18" charset="0"/>
                <a:cs typeface="Times New Roman" panose="02020603050405020304" pitchFamily="18" charset="0"/>
              </a:rPr>
              <a:t>Para simplificar a análise, utiliza-se a </a:t>
            </a:r>
            <a:r>
              <a:rPr lang="pt-BR" sz="1200" b="1" dirty="0">
                <a:latin typeface="Times New Roman" panose="02020603050405020304" pitchFamily="18" charset="0"/>
                <a:cs typeface="Times New Roman" panose="02020603050405020304" pitchFamily="18" charset="0"/>
              </a:rPr>
              <a:t>Transformada de Laplace</a:t>
            </a:r>
            <a:r>
              <a:rPr lang="pt-BR" sz="1200" dirty="0">
                <a:latin typeface="Times New Roman" panose="02020603050405020304" pitchFamily="18" charset="0"/>
                <a:cs typeface="Times New Roman" panose="02020603050405020304" pitchFamily="18" charset="0"/>
              </a:rPr>
              <a:t>, que converte equações diferenciais em equações algébricas no domínio de </a:t>
            </a:r>
            <a:r>
              <a:rPr lang="pt-BR" sz="1200" i="1" dirty="0">
                <a:latin typeface="Times New Roman" panose="02020603050405020304" pitchFamily="18" charset="0"/>
                <a:cs typeface="Times New Roman" panose="02020603050405020304" pitchFamily="18" charset="0"/>
              </a:rPr>
              <a:t>s</a:t>
            </a:r>
            <a:r>
              <a:rPr lang="pt-BR" sz="1200" dirty="0">
                <a:latin typeface="Times New Roman" panose="02020603050405020304" pitchFamily="18" charset="0"/>
                <a:cs typeface="Times New Roman" panose="02020603050405020304" pitchFamily="18" charset="0"/>
              </a:rPr>
              <a:t>, permitindo definir a </a:t>
            </a:r>
            <a:r>
              <a:rPr lang="pt-BR" sz="1200" b="1" dirty="0">
                <a:latin typeface="Times New Roman" panose="02020603050405020304" pitchFamily="18" charset="0"/>
                <a:cs typeface="Times New Roman" panose="02020603050405020304" pitchFamily="18" charset="0"/>
              </a:rPr>
              <a:t>função de transferência</a:t>
            </a:r>
            <a:r>
              <a:rPr lang="pt-BR" sz="1200" dirty="0">
                <a:latin typeface="Times New Roman" panose="02020603050405020304" pitchFamily="18" charset="0"/>
                <a:cs typeface="Times New Roman" panose="02020603050405020304" pitchFamily="18" charset="0"/>
              </a:rPr>
              <a:t> G(s) = Y(s)/X(s). Sistemas em série têm função de transferência total igual ao produto das individuais; sistemas com realimentação seguem as mesmas fórmulas do ganho, agora em </a:t>
            </a:r>
            <a:r>
              <a:rPr lang="pt-BR" sz="1200" i="1" dirty="0">
                <a:latin typeface="Times New Roman" panose="02020603050405020304" pitchFamily="18" charset="0"/>
                <a:cs typeface="Times New Roman" panose="02020603050405020304" pitchFamily="18" charset="0"/>
              </a:rPr>
              <a:t>s</a:t>
            </a:r>
            <a:r>
              <a:rPr lang="pt-BR" sz="1200" dirty="0">
                <a:latin typeface="Times New Roman" panose="02020603050405020304" pitchFamily="18" charset="0"/>
                <a:cs typeface="Times New Roman" panose="02020603050405020304" pitchFamily="18" charset="0"/>
              </a:rPr>
              <a:t>. A </a:t>
            </a:r>
            <a:r>
              <a:rPr lang="pt-BR" sz="1200" b="1" dirty="0">
                <a:latin typeface="Times New Roman" panose="02020603050405020304" pitchFamily="18" charset="0"/>
                <a:cs typeface="Times New Roman" panose="02020603050405020304" pitchFamily="18" charset="0"/>
              </a:rPr>
              <a:t>sensibilidade</a:t>
            </a:r>
            <a:r>
              <a:rPr lang="pt-BR" sz="1200" dirty="0">
                <a:latin typeface="Times New Roman" panose="02020603050405020304" pitchFamily="18" charset="0"/>
                <a:cs typeface="Times New Roman" panose="02020603050405020304" pitchFamily="18" charset="0"/>
              </a:rPr>
              <a:t> do sistema a variações no caminho direto é dada por 1/(1+GH), sendo reduzida quanto maior for o produto GH, enquanto perturbações externas são atenuadas pelo mesmo fator. Por fim, diagramas de blocos complexos podem ser simplificados movendo pontos de derivação e de soma, e sistemas com múltiplas entradas são analisados pelo </a:t>
            </a:r>
            <a:r>
              <a:rPr lang="pt-BR" sz="1200" b="1" dirty="0">
                <a:latin typeface="Times New Roman" panose="02020603050405020304" pitchFamily="18" charset="0"/>
                <a:cs typeface="Times New Roman" panose="02020603050405020304" pitchFamily="18" charset="0"/>
              </a:rPr>
              <a:t>princípio da superposição</a:t>
            </a:r>
            <a:r>
              <a:rPr lang="pt-BR" sz="1200" dirty="0">
                <a:latin typeface="Times New Roman" panose="02020603050405020304" pitchFamily="18" charset="0"/>
                <a:cs typeface="Times New Roman" panose="02020603050405020304" pitchFamily="18" charset="0"/>
              </a:rPr>
              <a:t>, somando as respostas individuais a cada entrada.</a:t>
            </a:r>
          </a:p>
          <a:p>
            <a:endParaRPr lang="en-US" sz="1200" dirty="0">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7A3F284B-30EE-0918-77A0-74EAC07D36AF}"/>
              </a:ext>
            </a:extLst>
          </p:cNvPr>
          <p:cNvSpPr txBox="1"/>
          <p:nvPr/>
        </p:nvSpPr>
        <p:spPr>
          <a:xfrm>
            <a:off x="0" y="685800"/>
            <a:ext cx="3429000" cy="11428770"/>
          </a:xfrm>
          <a:prstGeom prst="rect">
            <a:avLst/>
          </a:prstGeom>
          <a:noFill/>
        </p:spPr>
        <p:txBody>
          <a:bodyPr wrap="square" rtlCol="0">
            <a:spAutoFit/>
          </a:bodyPr>
          <a:lstStyle/>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Automação e Sistemas </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consistem na operação automática de processos com mínima intervenção humana. Um sistema é qualquer arranjo que transforma entradas em saídas, sendo representado graficamente por diagramas de blocos, onde cada bloco possui uma função específica e os sinais são indicados por setas. Os elementos principais desses diagramas são: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o bloco de sistema</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os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caminhos de informação</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junção de soma </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(que adiciona ou subtrai sinais) e o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ponto de derivação</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que permite que um sinal seja utilizado em mais de um caminho.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Tipos de Sistemas de Controle</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Existem dois tipos fundamentais. No sistema de malha aberta, a saída não influencia a entrada — o sistema age apenas com base numa configuração inicial, sendo simples e barato, porém impreciso diante de perturbações externas. No sistema de malha fechada, a saída é continuamente medida e comparada ao valor desejado, gerando um sinal de erro que aciona uma correção. Este tipo utiliza realimentação negativa, onde o sinal medido é subtraído da entrada, reduzindo progressivamente o erro. É mais preciso, porém mais complexo.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Elementos da Malha Fechada</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Comparador</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calcula o erro entre valor desejado e valor real</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Lei de controle</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decide a ação corretiva — pode ser proporcional, integral ou derivativa</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Atuador/corretor</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executa fisicamente a correção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Processo</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sistema cuja variável é controlada</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Sensor de medição</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mede a saída e fecha o laço de realimentação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Existe ainda o controle de </a:t>
            </a: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eventos discretos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onde ações são disparadas por eventos específicos detectados por sensores, como o enchimento de um reservatório.</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Sensores </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medem as variáveis do processo e incluem: potenciômetros e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LVDTs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para posição e deslocamento; extensômetros (</a:t>
            </a:r>
            <a:r>
              <a:rPr lang="pt-BR" sz="1000" i="1" kern="100" dirty="0" err="1">
                <a:effectLst/>
                <a:latin typeface="Times New Roman" panose="02020603050405020304" pitchFamily="18" charset="0"/>
                <a:ea typeface="Aptos" panose="020B0004020202020204" pitchFamily="34" charset="0"/>
                <a:cs typeface="Times New Roman" panose="02020603050405020304" pitchFamily="18" charset="0"/>
              </a:rPr>
              <a:t>strain</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pt-BR" sz="1000" i="1" kern="100" dirty="0" err="1">
                <a:effectLst/>
                <a:latin typeface="Times New Roman" panose="02020603050405020304" pitchFamily="18" charset="0"/>
                <a:ea typeface="Aptos" panose="020B0004020202020204" pitchFamily="34" charset="0"/>
                <a:cs typeface="Times New Roman" panose="02020603050405020304" pitchFamily="18" charset="0"/>
              </a:rPr>
              <a:t>gauges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para deformação;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encoders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ópticos incrementais e absolutos para posição angular; tacômetros para velocidade; diafragmas e sensores piezoelétricos para pressão; tubos Venturi, placas de orifício e medidores de turbina para vazão; e tiras bimetálicas,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RTDs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termistores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termopares e sensores integrados (como o LM35) para temperatura.</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Processamento de Sinais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adapta o sinal do sensor ao controlador por meio de: conversores resistência-tensão (divisor de potencial), proteção por fusíveis e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optoisoladores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conversores analógico-digital (ADC) para microprocessadores, conversores digital-analógico (DAC) para atuadores, e amplificadores operacionais usados como amplificadores inversores, não-inversores e diferenciais.</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Atuadores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a:t>
            </a: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Elementos de Correção</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executam a ação física de controle. As válvulas direcionais controlam o fluxo pneumático ou hidráulico e são descritas pelo número de portas e posições, podendo ser acionadas por solenoides, molas ou pressão. As válvulas de fluxo regulam a vazão por meio de um plugue cuja forma determina a característica (linear, abertura rápida ou percentagem igual). Os motores CC são classificados em série (alto torque de partida), shunt (velocidade constante), composto e excitação separada. Os motores de passo giram em ângulos fixos por pulso digital, permitindo posicionamento preciso — existem os tipos de ímã permanente e de relutância variável.</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O capítulo encerra com exemplos reais: controle de velocidade de motor, posição de ferramenta, direção assistida, pressão de combustível, freios ABS, espessura de chapa, nível de líquido, garra robótica e máquina ferramenta CNC.</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endParaRPr lang="en-US" sz="1000" dirty="0">
              <a:latin typeface="Times New Roman" panose="02020603050405020304" pitchFamily="18" charset="0"/>
              <a:cs typeface="Times New Roman" panose="02020603050405020304" pitchFamily="18" charset="0"/>
            </a:endParaRPr>
          </a:p>
        </p:txBody>
      </p:sp>
      <p:sp>
        <p:nvSpPr>
          <p:cNvPr id="109" name="TextBox 108">
            <a:extLst>
              <a:ext uri="{FF2B5EF4-FFF2-40B4-BE49-F238E27FC236}">
                <a16:creationId xmlns:a16="http://schemas.microsoft.com/office/drawing/2014/main" id="{20795A44-DF93-170D-391C-78F1EAE5C3C2}"/>
              </a:ext>
            </a:extLst>
          </p:cNvPr>
          <p:cNvSpPr txBox="1"/>
          <p:nvPr/>
        </p:nvSpPr>
        <p:spPr>
          <a:xfrm>
            <a:off x="0" y="506194"/>
            <a:ext cx="1993392" cy="276999"/>
          </a:xfrm>
          <a:prstGeom prst="rect">
            <a:avLst/>
          </a:prstGeom>
          <a:noFill/>
        </p:spPr>
        <p:txBody>
          <a:bodyPr wrap="square" rtlCol="0">
            <a:spAutoFit/>
          </a:bodyPr>
          <a:lstStyle/>
          <a:p>
            <a:r>
              <a:rPr lang="pt-BR" sz="1200" b="1" u="sng" kern="100" dirty="0">
                <a:effectLst/>
                <a:latin typeface="Times New Roman" panose="02020603050405020304" pitchFamily="18" charset="0"/>
                <a:ea typeface="Aptos" panose="020B0004020202020204" pitchFamily="34" charset="0"/>
                <a:cs typeface="Times New Roman" panose="02020603050405020304" pitchFamily="18" charset="0"/>
              </a:rPr>
              <a:t>Capítulo 1:</a:t>
            </a:r>
            <a:endParaRPr lang="en-US" sz="1200" u="sng" kern="100" dirty="0">
              <a:latin typeface="Times New Roman" panose="02020603050405020304" pitchFamily="18" charset="0"/>
              <a:ea typeface="Aptos" panose="020B000402020202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0" name="TextBox 109">
                <a:extLst>
                  <a:ext uri="{FF2B5EF4-FFF2-40B4-BE49-F238E27FC236}">
                    <a16:creationId xmlns:a16="http://schemas.microsoft.com/office/drawing/2014/main" id="{48CE192B-9B63-09C3-329E-6F4AD13115C3}"/>
                  </a:ext>
                </a:extLst>
              </p:cNvPr>
              <p:cNvSpPr txBox="1"/>
              <p:nvPr/>
            </p:nvSpPr>
            <p:spPr>
              <a:xfrm>
                <a:off x="3429000" y="685800"/>
                <a:ext cx="3429000" cy="11159593"/>
              </a:xfrm>
              <a:prstGeom prst="rect">
                <a:avLst/>
              </a:prstGeom>
              <a:noFill/>
            </p:spPr>
            <p:txBody>
              <a:bodyPr wrap="square" rtlCol="0">
                <a:spAutoFit/>
              </a:bodyPr>
              <a:lstStyle/>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Ganho e Realimentação</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Sistemas simples onde a saída é proporcional à entrada são descritos pelo ganho G (saída = G × entrada). Em sistemas em série, o ganho total é o produto dos ganhos individuais: G = G₁ × G₂. Para realimentação negativa, o ganho total é G/(1+GH), e para realimentação positiva, G/(1−GH), onde H é o ganho do caminho de realimentação. Em amplificadores operacionais com realimentação, quando GH &gt;&gt; 1, o ganho total aproxima-se de 1/H, tornando o sistema estável e determinado apenas pelos resistores externos.</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Modelos Dinâmicos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a:t>
                </a: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Equações Diferenciais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Quando o sistema não responde instantaneamente, a relação entrada-saída é descrita por equações diferenciais, obtidas modelando cada domínio físico com elementos básicos:</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Mecânico translacional</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mola (F =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ky</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amortecedor (F = </a:t>
                </a:r>
                <a14:m>
                  <m:oMath xmlns:m="http://schemas.openxmlformats.org/officeDocument/2006/math">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𝑐</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𝑑𝑦</m:t>
                        </m:r>
                      </m:num>
                      <m:den>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𝑑𝑡</m:t>
                        </m:r>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massa (F = </a:t>
                </a:r>
                <a14:m>
                  <m:oMath xmlns:m="http://schemas.openxmlformats.org/officeDocument/2006/math">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𝑚</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sSup>
                          <m:sSup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sSup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𝑑</m:t>
                            </m:r>
                          </m:e>
                          <m:sup>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2</m:t>
                            </m:r>
                          </m:sup>
                        </m:sSup>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𝑦</m:t>
                        </m:r>
                      </m:num>
                      <m:den>
                        <m:r>
                          <a:rPr lang="pt-BR" sz="1000" i="1" kern="100" dirty="0">
                            <a:latin typeface="Cambria Math" panose="02040503050406030204" pitchFamily="18" charset="0"/>
                            <a:ea typeface="Aptos" panose="020B0004020202020204" pitchFamily="34" charset="0"/>
                            <a:cs typeface="Times New Roman" panose="02020603050405020304" pitchFamily="18" charset="0"/>
                          </a:rPr>
                          <m:t>𝑑</m:t>
                        </m:r>
                        <m:sSup>
                          <m:sSupPr>
                            <m:ctrlPr>
                              <a:rPr lang="pt-BR" sz="1000" i="1" kern="100" dirty="0">
                                <a:latin typeface="Cambria Math" panose="02040503050406030204" pitchFamily="18" charset="0"/>
                                <a:ea typeface="Aptos" panose="020B0004020202020204" pitchFamily="34" charset="0"/>
                                <a:cs typeface="Times New Roman" panose="02020603050405020304" pitchFamily="18" charset="0"/>
                              </a:rPr>
                            </m:ctrlPr>
                          </m:sSupPr>
                          <m:e>
                            <m:r>
                              <a:rPr lang="pt-BR" sz="1000" i="1" kern="100" dirty="0" err="1">
                                <a:latin typeface="Cambria Math" panose="02040503050406030204" pitchFamily="18" charset="0"/>
                                <a:ea typeface="Aptos" panose="020B0004020202020204" pitchFamily="34" charset="0"/>
                                <a:cs typeface="Times New Roman" panose="02020603050405020304" pitchFamily="18" charset="0"/>
                              </a:rPr>
                              <m:t>𝑡</m:t>
                            </m:r>
                          </m:e>
                          <m:sup>
                            <m:r>
                              <a:rPr lang="pt-BR" sz="1000" i="1" kern="100" dirty="0">
                                <a:latin typeface="Cambria Math" panose="02040503050406030204" pitchFamily="18" charset="0"/>
                                <a:ea typeface="Aptos" panose="020B0004020202020204" pitchFamily="34" charset="0"/>
                                <a:cs typeface="Times New Roman" panose="02020603050405020304" pitchFamily="18" charset="0"/>
                              </a:rPr>
                              <m:t>2</m:t>
                            </m:r>
                          </m:sup>
                        </m:sSup>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resultando numa equação de 2ª ordem</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Mecânico rotacional</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mola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torsional</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amortecedor rotacional e momento de inércia, com equação análoga em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θ</a:t>
                </a: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Elétrico</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resistor (v = Ri), indutor (v = </a:t>
                </a:r>
                <a14:m>
                  <m:oMath xmlns:m="http://schemas.openxmlformats.org/officeDocument/2006/math">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𝐿</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𝑑𝑖</m:t>
                        </m:r>
                        <m:d>
                          <m:dPr>
                            <m:ctrlP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𝑡</m:t>
                            </m:r>
                          </m:e>
                        </m:d>
                      </m:num>
                      <m:den>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𝑑𝑡</m:t>
                        </m:r>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capacitor (i = </a:t>
                </a:r>
                <a14:m>
                  <m:oMath xmlns:m="http://schemas.openxmlformats.org/officeDocument/2006/math">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𝐶</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𝑑𝑉</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𝑡</m:t>
                        </m:r>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m:t>
                        </m:r>
                      </m:num>
                      <m:den>
                        <m:r>
                          <a:rPr lang="pt-BR" sz="1000" b="0" i="1" kern="100" dirty="0" smtClean="0">
                            <a:effectLst/>
                            <a:latin typeface="Cambria Math" panose="02040503050406030204" pitchFamily="18" charset="0"/>
                            <a:ea typeface="Aptos" panose="020B0004020202020204" pitchFamily="34" charset="0"/>
                            <a:cs typeface="Times New Roman" panose="02020603050405020304" pitchFamily="18" charset="0"/>
                          </a:rPr>
                          <m:t>𝑑𝑡</m:t>
                        </m:r>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modelados pelas leis de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Kirchhoff</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Térmico</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resistência térmica (q = </a:t>
                </a:r>
                <a14:m>
                  <m:oMath xmlns:m="http://schemas.openxmlformats.org/officeDocument/2006/math">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m:rPr>
                            <m:nor/>
                          </m:rPr>
                          <a:rPr lang="en-US" sz="1000" kern="100" dirty="0">
                            <a:latin typeface="Times New Roman" panose="02020603050405020304" pitchFamily="18" charset="0"/>
                            <a:ea typeface="Aptos" panose="020B0004020202020204" pitchFamily="34" charset="0"/>
                            <a:cs typeface="Times New Roman" panose="02020603050405020304" pitchFamily="18" charset="0"/>
                          </a:rPr>
                          <m:t>Δ</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𝑇</m:t>
                        </m:r>
                      </m:num>
                      <m:den>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𝑅</m:t>
                        </m:r>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capacitância térmica (q = </a:t>
                </a:r>
                <a14:m>
                  <m:oMath xmlns:m="http://schemas.openxmlformats.org/officeDocument/2006/math">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𝐶</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𝑑𝑇</m:t>
                        </m:r>
                      </m:num>
                      <m:den>
                        <m:r>
                          <a:rPr lang="pt-BR" sz="1000" i="1" kern="100" dirty="0" err="1" smtClean="0">
                            <a:effectLst/>
                            <a:latin typeface="Cambria Math" panose="02040503050406030204" pitchFamily="18" charset="0"/>
                            <a:ea typeface="Aptos" panose="020B0004020202020204" pitchFamily="34" charset="0"/>
                            <a:cs typeface="Times New Roman" panose="02020603050405020304" pitchFamily="18" charset="0"/>
                          </a:rPr>
                          <m:t>𝑑𝑡</m:t>
                        </m:r>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gerando equações de 1ª ordem</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spcAft>
                    <a:spcPts val="800"/>
                  </a:spcAft>
                  <a:buSzPts val="1000"/>
                  <a:buFont typeface="Symbol" panose="05050102010706020507" pitchFamily="18" charset="2"/>
                  <a:buChar char=""/>
                  <a:tabLst>
                    <a:tab pos="457200" algn="l"/>
                  </a:tabLst>
                </a:pPr>
                <a:r>
                  <a:rPr lang="pt-BR" sz="1000" b="1" i="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Hidráulico</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resistência, capacitância e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inertância</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hidráulicas, análogas aos elementos elétricos</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Resposta dos Sistemas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Sistemas de primeira ordem respondem a entradas degrau de forma exponencial, caracterizados pela constante de tempo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τ</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atingem 63% do valor final em t =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τ</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praticamente o valor total em t = 5</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τ</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Sistemas de segunda ordem são caracterizados pelo fator de amortecimento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ζ</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pela frequência natural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ω</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ₙ. O comportamento varia: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ζ</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 0 produz oscilação contínua; 0 &lt;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ζ</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&lt; 1 gera oscilações amortecidas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subamortecido</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ζ</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 1 é o caso criticamente amortecido, com a resposta mais rápida sem oscilação; </a:t>
                </a:r>
                <a:r>
                  <a:rPr lang="en-US" sz="1000" kern="100" dirty="0">
                    <a:effectLst/>
                    <a:latin typeface="Times New Roman" panose="02020603050405020304" pitchFamily="18" charset="0"/>
                    <a:ea typeface="Aptos" panose="020B0004020202020204" pitchFamily="34" charset="0"/>
                    <a:cs typeface="Times New Roman" panose="02020603050405020304" pitchFamily="18" charset="0"/>
                  </a:rPr>
                  <a:t>ζ</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&gt; 1 é superamortecido, com resposta mais lenta.</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Transformada de Laplace</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a:t>
                </a: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Função de Transferência</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 Transformada de Laplace converte equações diferenciais em equações algébricas substituindo a variável tempo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t</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pela variável complexa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As regras principais são: v(t) → V(s); </a:t>
                </a:r>
                <a14:m>
                  <m:oMath xmlns:m="http://schemas.openxmlformats.org/officeDocument/2006/math">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𝑑𝑣</m:t>
                        </m:r>
                      </m:num>
                      <m:den>
                        <m:r>
                          <a:rPr lang="pt-BR" sz="1000" i="1" kern="100" dirty="0" err="1" smtClean="0">
                            <a:effectLst/>
                            <a:latin typeface="Cambria Math" panose="02040503050406030204" pitchFamily="18" charset="0"/>
                            <a:ea typeface="Aptos" panose="020B0004020202020204" pitchFamily="34" charset="0"/>
                            <a:cs typeface="Times New Roman" panose="02020603050405020304" pitchFamily="18" charset="0"/>
                          </a:rPr>
                          <m:t>𝑑𝑡</m:t>
                        </m:r>
                      </m:den>
                    </m:f>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 </m:t>
                    </m:r>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pt-BR" sz="1000" kern="100" dirty="0" err="1">
                    <a:effectLst/>
                    <a:latin typeface="Times New Roman" panose="02020603050405020304" pitchFamily="18" charset="0"/>
                    <a:ea typeface="Aptos" panose="020B0004020202020204" pitchFamily="34" charset="0"/>
                    <a:cs typeface="Times New Roman" panose="02020603050405020304" pitchFamily="18" charset="0"/>
                  </a:rPr>
                  <a:t>sV</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(s); </a:t>
                </a:r>
                <a14:m>
                  <m:oMath xmlns:m="http://schemas.openxmlformats.org/officeDocument/2006/math">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sSup>
                          <m:sSup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sSup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𝑑</m:t>
                            </m:r>
                          </m:e>
                          <m:sup>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2</m:t>
                            </m:r>
                          </m:sup>
                        </m:sSup>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𝑣</m:t>
                        </m:r>
                      </m:num>
                      <m:den>
                        <m:r>
                          <a:rPr lang="pt-BR" sz="1000" i="1" kern="100" dirty="0" err="1" smtClean="0">
                            <a:effectLst/>
                            <a:latin typeface="Cambria Math" panose="02040503050406030204" pitchFamily="18" charset="0"/>
                            <a:ea typeface="Aptos" panose="020B0004020202020204" pitchFamily="34" charset="0"/>
                            <a:cs typeface="Times New Roman" panose="02020603050405020304" pitchFamily="18" charset="0"/>
                          </a:rPr>
                          <m:t>𝑑</m:t>
                        </m:r>
                        <m:sSup>
                          <m:sSup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sSupPr>
                          <m:e>
                            <m:r>
                              <a:rPr lang="pt-BR" sz="1000" i="1" kern="100" dirty="0" err="1" smtClean="0">
                                <a:effectLst/>
                                <a:latin typeface="Cambria Math" panose="02040503050406030204" pitchFamily="18" charset="0"/>
                                <a:ea typeface="Aptos" panose="020B0004020202020204" pitchFamily="34" charset="0"/>
                                <a:cs typeface="Times New Roman" panose="02020603050405020304" pitchFamily="18" charset="0"/>
                              </a:rPr>
                              <m:t>𝑡</m:t>
                            </m:r>
                          </m:e>
                          <m:sup>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2</m:t>
                            </m:r>
                          </m:sup>
                        </m:sSup>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 s²V(s); </a:t>
                </a:r>
                <a14:m>
                  <m:oMath xmlns:m="http://schemas.openxmlformats.org/officeDocument/2006/math">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𝑣</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 </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𝑑𝑡</m:t>
                    </m:r>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 </a:t>
                </a:r>
                <a14:m>
                  <m:oMath xmlns:m="http://schemas.openxmlformats.org/officeDocument/2006/math">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𝑉</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num>
                      <m:den>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 função de transferência é então definida como </a:t>
                </a:r>
                <a14:m>
                  <m:oMath xmlns:m="http://schemas.openxmlformats.org/officeDocument/2006/math">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𝑌</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num>
                      <m:den>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𝑋</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e representa o bloco de um sistema no domínio de </a:t>
                </a:r>
                <a:r>
                  <a:rPr lang="pt-BR" sz="1000" i="1" kern="100" dirty="0">
                    <a:effectLst/>
                    <a:latin typeface="Times New Roman" panose="02020603050405020304" pitchFamily="18" charset="0"/>
                    <a:ea typeface="Aptos" panose="020B0004020202020204" pitchFamily="34" charset="0"/>
                    <a:cs typeface="Times New Roman" panose="02020603050405020304" pitchFamily="18" charset="0"/>
                  </a:rPr>
                  <a:t>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Funções de transferência típicas incluem:</a:t>
                </a:r>
                <a:r>
                  <a:rPr lang="pt-BR" sz="1000" b="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 amplificador (G), potenciômetro (K), motor CC </a:t>
                </a:r>
                <a14:m>
                  <m:oMath xmlns:m="http://schemas.openxmlformats.org/officeDocument/2006/math">
                    <m:d>
                      <m:d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num>
                          <m:den>
                            <m:r>
                              <a:rPr lang="pt-BR" sz="1000" b="1" i="1" kern="100" dirty="0" err="1"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𝒔𝑳</m:t>
                            </m:r>
                            <m:r>
                              <a:rPr lang="pt-BR" sz="1000" b="1" i="1" kern="100" dirty="0" err="1"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r>
                              <a:rPr lang="pt-BR" sz="1000" b="1" i="1" kern="100" dirty="0" err="1"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𝑹</m:t>
                            </m:r>
                          </m:den>
                        </m:f>
                      </m:e>
                    </m:d>
                  </m:oMath>
                </a14:m>
                <a:r>
                  <a:rPr lang="pt-BR" sz="1000" b="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 sistema térmico </a:t>
                </a:r>
                <a14:m>
                  <m:oMath xmlns:m="http://schemas.openxmlformats.org/officeDocument/2006/math">
                    <m:d>
                      <m:d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num>
                          <m:den>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𝒔𝑪</m:t>
                            </m:r>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m:t>
                            </m:r>
                            <m:f>
                              <m:f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num>
                              <m:den>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𝑹</m:t>
                                </m:r>
                              </m:den>
                            </m:f>
                          </m:den>
                        </m:f>
                      </m:e>
                    </m:d>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 </m:t>
                    </m:r>
                  </m:oMath>
                </a14:m>
                <a:r>
                  <a:rPr lang="pt-BR" sz="1000" b="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e integrador de deslocamento </a:t>
                </a:r>
                <a14:m>
                  <m:oMath xmlns:m="http://schemas.openxmlformats.org/officeDocument/2006/math">
                    <m:d>
                      <m:d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dPr>
                      <m:e>
                        <m:f>
                          <m:fPr>
                            <m:ctrlP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𝟏</m:t>
                            </m:r>
                          </m:num>
                          <m:den>
                            <m:r>
                              <a:rPr lang="pt-BR" sz="1000" b="1" i="1" kern="100" dirty="0" smtClean="0">
                                <a:solidFill>
                                  <a:schemeClr val="bg2">
                                    <a:lumMod val="50000"/>
                                  </a:schemeClr>
                                </a:solidFill>
                                <a:effectLst/>
                                <a:latin typeface="Cambria Math" panose="02040503050406030204" pitchFamily="18" charset="0"/>
                                <a:ea typeface="Aptos" panose="020B0004020202020204" pitchFamily="34" charset="0"/>
                                <a:cs typeface="Times New Roman" panose="02020603050405020304" pitchFamily="18" charset="0"/>
                              </a:rPr>
                              <m:t>𝒔</m:t>
                            </m:r>
                          </m:den>
                        </m:f>
                      </m:e>
                    </m:d>
                  </m:oMath>
                </a14:m>
                <a:r>
                  <a:rPr lang="pt-BR" sz="1000" b="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rPr>
                  <a:t>.</a:t>
                </a:r>
                <a:endParaRPr lang="en-US" sz="1000" b="1" kern="100" dirty="0">
                  <a:solidFill>
                    <a:schemeClr val="bg2">
                      <a:lumMod val="50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algn="just">
                  <a:spcAft>
                    <a:spcPts val="800"/>
                  </a:spcAft>
                </a:pPr>
                <a:r>
                  <a:rPr lang="pt-BR" sz="1000" u="sng" kern="100" dirty="0">
                    <a:effectLst/>
                    <a:latin typeface="Times New Roman" panose="02020603050405020304" pitchFamily="18" charset="0"/>
                    <a:ea typeface="Aptos" panose="020B0004020202020204" pitchFamily="34" charset="0"/>
                    <a:cs typeface="Times New Roman" panose="02020603050405020304" pitchFamily="18" charset="0"/>
                  </a:rPr>
                  <a:t>Sistemas Compostos</a:t>
                </a:r>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Para elementos em série,       </a:t>
                </a:r>
                <a14:m>
                  <m:oMath xmlns:m="http://schemas.openxmlformats.org/officeDocument/2006/math">
                    <m:sSub>
                      <m:sSubPr>
                        <m:ctrlPr>
                          <a:rPr lang="pt-BR" sz="1000" i="1" kern="100" dirty="0" smtClean="0">
                            <a:effectLst/>
                            <a:latin typeface="Cambria Math" panose="02040503050406030204" pitchFamily="18" charset="0"/>
                            <a:cs typeface="Times New Roman" panose="02020603050405020304" pitchFamily="18" charset="0"/>
                          </a:rPr>
                        </m:ctrlPr>
                      </m:sSubPr>
                      <m:e>
                        <m:r>
                          <a:rPr lang="pt-BR" sz="1000" b="0" i="1" kern="100" dirty="0" smtClean="0">
                            <a:effectLst/>
                            <a:latin typeface="Cambria Math" panose="02040503050406030204" pitchFamily="18" charset="0"/>
                            <a:cs typeface="Times New Roman" panose="02020603050405020304" pitchFamily="18" charset="0"/>
                          </a:rPr>
                          <m:t>𝐺</m:t>
                        </m:r>
                      </m:e>
                      <m:sub>
                        <m:r>
                          <a:rPr lang="pt-BR" sz="1000" b="0" i="1" kern="100" dirty="0" smtClean="0">
                            <a:effectLst/>
                            <a:latin typeface="Cambria Math" panose="02040503050406030204" pitchFamily="18" charset="0"/>
                            <a:cs typeface="Times New Roman" panose="02020603050405020304" pitchFamily="18" charset="0"/>
                          </a:rPr>
                          <m:t>𝑇𝑜𝑡𝑎𝑙</m:t>
                        </m:r>
                      </m:sub>
                    </m:sSub>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 = </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₁(</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₂(</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m:t>
                    </m:r>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Com realimentação negativa: </a:t>
                </a:r>
                <a14:m>
                  <m:oMath xmlns:m="http://schemas.openxmlformats.org/officeDocument/2006/math">
                    <m:sSub>
                      <m:sSubPr>
                        <m:ctrlPr>
                          <a:rPr lang="pt-BR" sz="1000" i="1" kern="100" dirty="0">
                            <a:latin typeface="Cambria Math" panose="02040503050406030204" pitchFamily="18" charset="0"/>
                            <a:cs typeface="Times New Roman" panose="02020603050405020304" pitchFamily="18" charset="0"/>
                          </a:rPr>
                        </m:ctrlPr>
                      </m:sSubPr>
                      <m:e>
                        <m:r>
                          <a:rPr lang="pt-BR" sz="1000" i="1" kern="100" dirty="0">
                            <a:latin typeface="Cambria Math" panose="02040503050406030204" pitchFamily="18" charset="0"/>
                            <a:cs typeface="Times New Roman" panose="02020603050405020304" pitchFamily="18" charset="0"/>
                          </a:rPr>
                          <m:t>𝐺</m:t>
                        </m:r>
                      </m:e>
                      <m:sub>
                        <m:r>
                          <a:rPr lang="pt-BR" sz="1000" i="1" kern="100" dirty="0">
                            <a:latin typeface="Cambria Math" panose="02040503050406030204" pitchFamily="18" charset="0"/>
                            <a:cs typeface="Times New Roman" panose="02020603050405020304" pitchFamily="18" charset="0"/>
                          </a:rPr>
                          <m:t>𝑇𝑜𝑡𝑎𝑙</m:t>
                        </m:r>
                      </m:sub>
                    </m:sSub>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a:t>
                </a:r>
                <a14:m>
                  <m:oMath xmlns:m="http://schemas.openxmlformats.org/officeDocument/2006/math">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 =</m:t>
                    </m:r>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num>
                      <m:den>
                        <m:d>
                          <m:dPr>
                            <m:begChr m:val="["/>
                            <m:endChr m:val="]"/>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1+</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𝐻</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e>
                        </m:d>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Com realimentação positiva: </a:t>
                </a:r>
                <a14:m>
                  <m:oMath xmlns:m="http://schemas.openxmlformats.org/officeDocument/2006/math">
                    <m:sSub>
                      <m:sSubPr>
                        <m:ctrlPr>
                          <a:rPr lang="pt-BR" sz="1000" i="1" kern="100" dirty="0">
                            <a:latin typeface="Cambria Math" panose="02040503050406030204" pitchFamily="18" charset="0"/>
                            <a:cs typeface="Times New Roman" panose="02020603050405020304" pitchFamily="18" charset="0"/>
                          </a:rPr>
                        </m:ctrlPr>
                      </m:sSubPr>
                      <m:e>
                        <m:r>
                          <a:rPr lang="pt-BR" sz="1000" i="1" kern="100" dirty="0">
                            <a:latin typeface="Cambria Math" panose="02040503050406030204" pitchFamily="18" charset="0"/>
                            <a:cs typeface="Times New Roman" panose="02020603050405020304" pitchFamily="18" charset="0"/>
                          </a:rPr>
                          <m:t>𝐺</m:t>
                        </m:r>
                      </m:e>
                      <m:sub>
                        <m:r>
                          <a:rPr lang="pt-BR" sz="1000" i="1" kern="100" dirty="0">
                            <a:latin typeface="Cambria Math" panose="02040503050406030204" pitchFamily="18" charset="0"/>
                            <a:cs typeface="Times New Roman" panose="02020603050405020304" pitchFamily="18" charset="0"/>
                          </a:rPr>
                          <m:t>𝑇𝑜𝑡𝑎𝑙</m:t>
                        </m:r>
                      </m:sub>
                    </m:sSub>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(s) = </a:t>
                </a:r>
                <a14:m>
                  <m:oMath xmlns:m="http://schemas.openxmlformats.org/officeDocument/2006/math">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num>
                      <m:den>
                        <m:d>
                          <m:dPr>
                            <m:begChr m:val="["/>
                            <m:endChr m:val="]"/>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1−</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𝐻</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e>
                        </m:d>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A sensibilidade a variações no caminho direto é S = </a:t>
                </a:r>
                <a14:m>
                  <m:oMath xmlns:m="http://schemas.openxmlformats.org/officeDocument/2006/math">
                    <m:f>
                      <m:f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fPr>
                      <m:num>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1</m:t>
                        </m:r>
                      </m:num>
                      <m:den>
                        <m:d>
                          <m:dPr>
                            <m:begChr m:val="["/>
                            <m:endChr m:val="]"/>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1+</m:t>
                            </m:r>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𝐺</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𝐻</m:t>
                            </m:r>
                            <m:d>
                              <m:dPr>
                                <m:ctrlP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ctrlPr>
                              </m:dPr>
                              <m:e>
                                <m:r>
                                  <a:rPr lang="pt-BR" sz="1000" i="1" kern="100" dirty="0" smtClean="0">
                                    <a:effectLst/>
                                    <a:latin typeface="Cambria Math" panose="02040503050406030204" pitchFamily="18" charset="0"/>
                                    <a:ea typeface="Aptos" panose="020B0004020202020204" pitchFamily="34" charset="0"/>
                                    <a:cs typeface="Times New Roman" panose="02020603050405020304" pitchFamily="18" charset="0"/>
                                  </a:rPr>
                                  <m:t>𝑠</m:t>
                                </m:r>
                              </m:e>
                            </m:d>
                          </m:e>
                        </m:d>
                      </m:den>
                    </m:f>
                  </m:oMath>
                </a14:m>
                <a:r>
                  <a:rPr lang="pt-BR" sz="1000" kern="100" dirty="0">
                    <a:effectLst/>
                    <a:latin typeface="Times New Roman" panose="02020603050405020304" pitchFamily="18" charset="0"/>
                    <a:ea typeface="Aptos" panose="020B0004020202020204" pitchFamily="34" charset="0"/>
                    <a:cs typeface="Times New Roman" panose="02020603050405020304" pitchFamily="18" charset="0"/>
                  </a:rPr>
                  <a:t>, sendo menor quanto maior for GH — o sistema torna-se robusto a variações internas. Perturbações externas são igualmente atenuadas pelo fator [1 + G₁G₂H]. Por fim, diagramas de blocos complexos são simplificados movendo pontos de derivação e de soma, e sistemas com múltiplas entradas são analisados pelo princípio da superposição, calculando a resposta a cada entrada separadamente e somando os resultados.</a:t>
                </a:r>
                <a:endParaRPr lang="en-US" sz="1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endParaRPr lang="en-US" sz="1000" dirty="0">
                  <a:latin typeface="Times New Roman" panose="02020603050405020304" pitchFamily="18" charset="0"/>
                  <a:cs typeface="Times New Roman" panose="02020603050405020304" pitchFamily="18" charset="0"/>
                </a:endParaRPr>
              </a:p>
            </p:txBody>
          </p:sp>
        </mc:Choice>
        <mc:Fallback>
          <p:sp>
            <p:nvSpPr>
              <p:cNvPr id="110" name="TextBox 109">
                <a:extLst>
                  <a:ext uri="{FF2B5EF4-FFF2-40B4-BE49-F238E27FC236}">
                    <a16:creationId xmlns:a16="http://schemas.microsoft.com/office/drawing/2014/main" id="{48CE192B-9B63-09C3-329E-6F4AD13115C3}"/>
                  </a:ext>
                </a:extLst>
              </p:cNvPr>
              <p:cNvSpPr txBox="1">
                <a:spLocks noRot="1" noChangeAspect="1" noMove="1" noResize="1" noEditPoints="1" noAdjustHandles="1" noChangeArrowheads="1" noChangeShapeType="1" noTextEdit="1"/>
              </p:cNvSpPr>
              <p:nvPr/>
            </p:nvSpPr>
            <p:spPr>
              <a:xfrm>
                <a:off x="3429000" y="685800"/>
                <a:ext cx="3429000" cy="11159593"/>
              </a:xfrm>
              <a:prstGeom prst="rect">
                <a:avLst/>
              </a:prstGeom>
              <a:blipFill>
                <a:blip r:embed="rId5"/>
                <a:stretch>
                  <a:fillRect/>
                </a:stretch>
              </a:blipFill>
            </p:spPr>
            <p:txBody>
              <a:bodyPr/>
              <a:lstStyle/>
              <a:p>
                <a:r>
                  <a:rPr lang="en-US">
                    <a:noFill/>
                  </a:rPr>
                  <a:t> </a:t>
                </a:r>
              </a:p>
            </p:txBody>
          </p:sp>
        </mc:Fallback>
      </mc:AlternateContent>
      <p:sp>
        <p:nvSpPr>
          <p:cNvPr id="111" name="TextBox 110">
            <a:extLst>
              <a:ext uri="{FF2B5EF4-FFF2-40B4-BE49-F238E27FC236}">
                <a16:creationId xmlns:a16="http://schemas.microsoft.com/office/drawing/2014/main" id="{C68115AE-7B46-25FB-D96A-A5776B52D0ED}"/>
              </a:ext>
            </a:extLst>
          </p:cNvPr>
          <p:cNvSpPr txBox="1"/>
          <p:nvPr/>
        </p:nvSpPr>
        <p:spPr>
          <a:xfrm>
            <a:off x="3429000" y="501053"/>
            <a:ext cx="1993392" cy="276999"/>
          </a:xfrm>
          <a:prstGeom prst="rect">
            <a:avLst/>
          </a:prstGeom>
          <a:noFill/>
        </p:spPr>
        <p:txBody>
          <a:bodyPr wrap="square" rtlCol="0">
            <a:spAutoFit/>
          </a:bodyPr>
          <a:lstStyle/>
          <a:p>
            <a:r>
              <a:rPr lang="pt-BR" sz="1200" b="1" u="sng" kern="100" dirty="0">
                <a:effectLst/>
                <a:latin typeface="Times New Roman" panose="02020603050405020304" pitchFamily="18" charset="0"/>
                <a:ea typeface="Aptos" panose="020B0004020202020204" pitchFamily="34" charset="0"/>
                <a:cs typeface="Times New Roman" panose="02020603050405020304" pitchFamily="18" charset="0"/>
              </a:rPr>
              <a:t>Capítulo 2:</a:t>
            </a:r>
            <a:endParaRPr lang="en-US" sz="1200" u="sng" kern="100" dirty="0">
              <a:latin typeface="Times New Roman" panose="02020603050405020304" pitchFamily="18" charset="0"/>
              <a:ea typeface="Aptos" panose="020B0004020202020204" pitchFamily="34" charset="0"/>
              <a:cs typeface="Times New Roman" panose="02020603050405020304" pitchFamily="18" charset="0"/>
            </a:endParaRPr>
          </a:p>
        </p:txBody>
      </p:sp>
      <p:cxnSp>
        <p:nvCxnSpPr>
          <p:cNvPr id="113" name="Straight Connector 112">
            <a:extLst>
              <a:ext uri="{FF2B5EF4-FFF2-40B4-BE49-F238E27FC236}">
                <a16:creationId xmlns:a16="http://schemas.microsoft.com/office/drawing/2014/main" id="{B81DA455-3CC5-70ED-D5AB-6108C76AF831}"/>
              </a:ext>
            </a:extLst>
          </p:cNvPr>
          <p:cNvCxnSpPr>
            <a:cxnSpLocks/>
          </p:cNvCxnSpPr>
          <p:nvPr/>
        </p:nvCxnSpPr>
        <p:spPr>
          <a:xfrm>
            <a:off x="3418840" y="778052"/>
            <a:ext cx="0" cy="11067341"/>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8F70546C-9E6A-F766-4764-B4456170EA92}"/>
              </a:ext>
            </a:extLst>
          </p:cNvPr>
          <p:cNvSpPr/>
          <p:nvPr/>
        </p:nvSpPr>
        <p:spPr>
          <a:xfrm>
            <a:off x="-1587" y="11915001"/>
            <a:ext cx="6857999" cy="276999"/>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3522323"/>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890</TotalTime>
  <Words>2460</Words>
  <Application>Microsoft Office PowerPoint</Application>
  <PresentationFormat>Widescreen</PresentationFormat>
  <Paragraphs>36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Aptos Display</vt:lpstr>
      <vt:lpstr>Arial</vt:lpstr>
      <vt:lpstr>Cambria Math</vt:lpstr>
      <vt:lpstr>Segoe UI</vt:lpstr>
      <vt:lpstr>Symbol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Corradini</dc:creator>
  <cp:lastModifiedBy>Enzo Corradini</cp:lastModifiedBy>
  <cp:revision>4</cp:revision>
  <dcterms:created xsi:type="dcterms:W3CDTF">2026-03-25T01:08:44Z</dcterms:created>
  <dcterms:modified xsi:type="dcterms:W3CDTF">2026-03-26T01:23:54Z</dcterms:modified>
</cp:coreProperties>
</file>